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85" d="100"/>
          <a:sy n="85" d="100"/>
        </p:scale>
        <p:origin x="960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ip-facso.shinyapps.io/datos-abiertos-CINDAI/#inicio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4000" b="1" dirty="0"/>
              <a:t>DATASOC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 err="1"/>
              <a:t>Dirección</a:t>
            </a:r>
            <a:r>
              <a:rPr dirty="0"/>
              <a:t> de </a:t>
            </a:r>
            <a:r>
              <a:rPr dirty="0" err="1"/>
              <a:t>Investigación</a:t>
            </a:r>
            <a:r>
              <a:rPr dirty="0"/>
              <a:t> y </a:t>
            </a:r>
            <a:r>
              <a:rPr dirty="0" err="1"/>
              <a:t>Publicaciones</a:t>
            </a:r>
            <a:r>
              <a:rPr dirty="0"/>
              <a:t> – FACSO</a:t>
            </a:r>
            <a:endParaRPr lang="es-ES" dirty="0"/>
          </a:p>
          <a:p>
            <a:pPr marL="0" lvl="0" indent="0">
              <a:buNone/>
            </a:pPr>
            <a:r>
              <a:rPr lang="es-CL" dirty="0"/>
              <a:t>Octubre, 2025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octubre, 2025</a:t>
            </a:r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1268414F-EBFB-87BE-07ED-076F8380D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9768"/>
            <a:ext cx="2407982" cy="16030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394472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Para </a:t>
            </a:r>
            <a:r>
              <a:rPr dirty="0" err="1"/>
              <a:t>lograr</a:t>
            </a:r>
            <a:r>
              <a:rPr dirty="0"/>
              <a:t> </a:t>
            </a:r>
            <a:r>
              <a:rPr dirty="0" err="1"/>
              <a:t>posicionarse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un </a:t>
            </a:r>
            <a:r>
              <a:rPr dirty="0" err="1"/>
              <a:t>centro</a:t>
            </a:r>
            <a:r>
              <a:rPr dirty="0"/>
              <a:t> de </a:t>
            </a:r>
            <a:r>
              <a:rPr dirty="0" err="1"/>
              <a:t>generación</a:t>
            </a:r>
            <a:r>
              <a:rPr dirty="0"/>
              <a:t> de </a:t>
            </a:r>
            <a:r>
              <a:rPr dirty="0" err="1"/>
              <a:t>conocimiento</a:t>
            </a:r>
            <a:r>
              <a:rPr dirty="0"/>
              <a:t> </a:t>
            </a:r>
            <a:r>
              <a:rPr dirty="0" err="1"/>
              <a:t>basado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investigación</a:t>
            </a:r>
            <a:r>
              <a:rPr dirty="0"/>
              <a:t> social de </a:t>
            </a:r>
            <a:r>
              <a:rPr dirty="0" err="1"/>
              <a:t>relevancia</a:t>
            </a:r>
            <a:r>
              <a:rPr dirty="0"/>
              <a:t> </a:t>
            </a:r>
            <a:r>
              <a:rPr dirty="0" err="1"/>
              <a:t>nacional</a:t>
            </a:r>
            <a:r>
              <a:rPr dirty="0"/>
              <a:t> e </a:t>
            </a:r>
            <a:r>
              <a:rPr dirty="0" err="1"/>
              <a:t>internacional</a:t>
            </a:r>
            <a:r>
              <a:rPr dirty="0"/>
              <a:t>, la </a:t>
            </a:r>
            <a:r>
              <a:rPr dirty="0" err="1"/>
              <a:t>Facultad</a:t>
            </a:r>
            <a:r>
              <a:rPr dirty="0"/>
              <a:t> </a:t>
            </a:r>
            <a:r>
              <a:rPr dirty="0" err="1"/>
              <a:t>enfrent</a:t>
            </a:r>
            <a:r>
              <a:rPr lang="es-ES" dirty="0"/>
              <a:t>a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siguientes</a:t>
            </a:r>
            <a:r>
              <a:rPr dirty="0"/>
              <a:t> </a:t>
            </a:r>
            <a:r>
              <a:rPr dirty="0" err="1"/>
              <a:t>desafíos</a:t>
            </a:r>
            <a:r>
              <a:rPr dirty="0"/>
              <a:t>:</a:t>
            </a:r>
          </a:p>
          <a:p>
            <a:pPr marL="342900" lvl="0" indent="-342900">
              <a:buAutoNum type="arabicParenR"/>
            </a:pPr>
            <a:r>
              <a:rPr dirty="0" err="1"/>
              <a:t>Falencias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las </a:t>
            </a:r>
            <a:r>
              <a:rPr dirty="0" err="1"/>
              <a:t>implementación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gobernanza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efectiva</a:t>
            </a:r>
            <a:endParaRPr dirty="0"/>
          </a:p>
          <a:p>
            <a:pPr marL="342900" lvl="0" indent="-342900">
              <a:buAutoNum type="arabicParenR"/>
            </a:pPr>
            <a:r>
              <a:rPr dirty="0" err="1"/>
              <a:t>Carencia</a:t>
            </a:r>
            <a:r>
              <a:rPr dirty="0"/>
              <a:t> de canales claros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faciliten</a:t>
            </a:r>
            <a:r>
              <a:rPr dirty="0"/>
              <a:t> </a:t>
            </a:r>
            <a:r>
              <a:rPr dirty="0" err="1"/>
              <a:t>sistemáticamente</a:t>
            </a:r>
            <a:r>
              <a:rPr dirty="0"/>
              <a:t> la </a:t>
            </a:r>
            <a:r>
              <a:rPr dirty="0" err="1"/>
              <a:t>transferencia</a:t>
            </a:r>
            <a:r>
              <a:rPr dirty="0"/>
              <a:t> del </a:t>
            </a:r>
            <a:r>
              <a:rPr dirty="0" err="1"/>
              <a:t>conocimiento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la </a:t>
            </a:r>
            <a:r>
              <a:rPr dirty="0" err="1"/>
              <a:t>sociedad</a:t>
            </a:r>
            <a:r>
              <a:rPr dirty="0"/>
              <a:t> civil 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tomadores</a:t>
            </a:r>
            <a:r>
              <a:rPr dirty="0"/>
              <a:t> de </a:t>
            </a:r>
            <a:r>
              <a:rPr dirty="0" err="1"/>
              <a:t>decisiones</a:t>
            </a:r>
            <a:endParaRPr dirty="0"/>
          </a:p>
          <a:p>
            <a:pPr marL="342900" lvl="0" indent="-342900">
              <a:buAutoNum type="arabicParenR"/>
            </a:pPr>
            <a:r>
              <a:rPr dirty="0"/>
              <a:t>Poca </a:t>
            </a:r>
            <a:r>
              <a:rPr dirty="0" err="1"/>
              <a:t>preparación</a:t>
            </a:r>
            <a:r>
              <a:rPr dirty="0"/>
              <a:t> </a:t>
            </a:r>
            <a:r>
              <a:rPr dirty="0" err="1"/>
              <a:t>institucional</a:t>
            </a:r>
            <a:r>
              <a:rPr dirty="0"/>
              <a:t> para </a:t>
            </a:r>
            <a:r>
              <a:rPr dirty="0" err="1"/>
              <a:t>nuevos</a:t>
            </a:r>
            <a:r>
              <a:rPr dirty="0"/>
              <a:t> </a:t>
            </a:r>
            <a:r>
              <a:rPr dirty="0" err="1"/>
              <a:t>desafíso</a:t>
            </a:r>
            <a:r>
              <a:rPr dirty="0"/>
              <a:t> </a:t>
            </a:r>
            <a:r>
              <a:rPr dirty="0" err="1"/>
              <a:t>científicos</a:t>
            </a:r>
            <a:r>
              <a:rPr dirty="0"/>
              <a:t> y </a:t>
            </a:r>
            <a:r>
              <a:rPr dirty="0" err="1"/>
              <a:t>tecnológicos</a:t>
            </a:r>
            <a:r>
              <a:rPr dirty="0"/>
              <a:t>, tales </a:t>
            </a:r>
            <a:r>
              <a:rPr dirty="0" err="1"/>
              <a:t>como</a:t>
            </a:r>
            <a:r>
              <a:rPr dirty="0"/>
              <a:t> la </a:t>
            </a:r>
            <a:r>
              <a:rPr dirty="0" err="1"/>
              <a:t>inteligencia</a:t>
            </a:r>
            <a:r>
              <a:rPr dirty="0"/>
              <a:t> artificial, </a:t>
            </a:r>
            <a:r>
              <a:rPr dirty="0" err="1"/>
              <a:t>el</a:t>
            </a:r>
            <a:r>
              <a:rPr dirty="0"/>
              <a:t> machine learning, la big data y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procesamiento</a:t>
            </a:r>
            <a:r>
              <a:rPr dirty="0"/>
              <a:t> de </a:t>
            </a:r>
            <a:r>
              <a:rPr dirty="0" err="1"/>
              <a:t>lenguaje</a:t>
            </a:r>
            <a:r>
              <a:rPr dirty="0"/>
              <a:t> natural.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DATASOC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394472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DATASOC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iniciativa</a:t>
            </a:r>
            <a:r>
              <a:rPr dirty="0"/>
              <a:t> de Ciencia de Datos de la </a:t>
            </a:r>
            <a:r>
              <a:rPr dirty="0" err="1"/>
              <a:t>Facultad</a:t>
            </a:r>
            <a:r>
              <a:rPr dirty="0"/>
              <a:t> de </a:t>
            </a:r>
            <a:r>
              <a:rPr dirty="0" err="1"/>
              <a:t>Ciencias</a:t>
            </a:r>
            <a:r>
              <a:rPr dirty="0"/>
              <a:t> </a:t>
            </a:r>
            <a:r>
              <a:rPr dirty="0" err="1"/>
              <a:t>Sociales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busca</a:t>
            </a:r>
            <a:r>
              <a:rPr dirty="0"/>
              <a:t> </a:t>
            </a:r>
            <a:r>
              <a:rPr b="1" dirty="0" err="1"/>
              <a:t>posicionar</a:t>
            </a:r>
            <a:r>
              <a:rPr b="1" dirty="0"/>
              <a:t> a la </a:t>
            </a:r>
            <a:r>
              <a:rPr b="1" dirty="0" err="1"/>
              <a:t>Facultad</a:t>
            </a:r>
            <a:r>
              <a:rPr b="1" dirty="0"/>
              <a:t> </a:t>
            </a:r>
            <a:r>
              <a:rPr b="1" dirty="0" err="1"/>
              <a:t>como</a:t>
            </a:r>
            <a:r>
              <a:rPr b="1" dirty="0"/>
              <a:t> un </a:t>
            </a:r>
            <a:r>
              <a:rPr b="1" dirty="0" err="1"/>
              <a:t>referente</a:t>
            </a:r>
            <a:r>
              <a:rPr b="1" dirty="0"/>
              <a:t> </a:t>
            </a:r>
            <a:r>
              <a:rPr b="1" dirty="0" err="1"/>
              <a:t>nacional</a:t>
            </a:r>
            <a:r>
              <a:rPr b="1" dirty="0"/>
              <a:t> </a:t>
            </a:r>
            <a:r>
              <a:rPr b="1" dirty="0" err="1"/>
              <a:t>en</a:t>
            </a:r>
            <a:r>
              <a:rPr b="1" dirty="0"/>
              <a:t> </a:t>
            </a:r>
            <a:r>
              <a:rPr b="1" dirty="0" err="1"/>
              <a:t>el</a:t>
            </a:r>
            <a:r>
              <a:rPr b="1" dirty="0"/>
              <a:t> </a:t>
            </a:r>
            <a:r>
              <a:rPr b="1" dirty="0" err="1"/>
              <a:t>desarrollo</a:t>
            </a:r>
            <a:r>
              <a:rPr b="1" dirty="0"/>
              <a:t> de las </a:t>
            </a:r>
            <a:r>
              <a:rPr b="1" dirty="0" err="1"/>
              <a:t>ciencias</a:t>
            </a:r>
            <a:r>
              <a:rPr b="1" dirty="0"/>
              <a:t> de </a:t>
            </a:r>
            <a:r>
              <a:rPr b="1" dirty="0" err="1"/>
              <a:t>datos</a:t>
            </a:r>
            <a:r>
              <a:rPr b="1" dirty="0"/>
              <a:t> </a:t>
            </a:r>
            <a:r>
              <a:rPr b="1" dirty="0" err="1"/>
              <a:t>sociales</a:t>
            </a:r>
            <a:r>
              <a:rPr dirty="0"/>
              <a:t>, </a:t>
            </a:r>
            <a:r>
              <a:rPr dirty="0" err="1"/>
              <a:t>articulando</a:t>
            </a:r>
            <a:r>
              <a:rPr dirty="0"/>
              <a:t> </a:t>
            </a:r>
            <a:r>
              <a:rPr dirty="0" err="1"/>
              <a:t>investigación</a:t>
            </a:r>
            <a:r>
              <a:rPr dirty="0"/>
              <a:t>, </a:t>
            </a:r>
            <a:r>
              <a:rPr dirty="0" err="1"/>
              <a:t>formación</a:t>
            </a:r>
            <a:r>
              <a:rPr dirty="0"/>
              <a:t>, </a:t>
            </a:r>
            <a:r>
              <a:rPr dirty="0" err="1"/>
              <a:t>gestión</a:t>
            </a:r>
            <a:r>
              <a:rPr dirty="0"/>
              <a:t> e </a:t>
            </a:r>
            <a:r>
              <a:rPr dirty="0" err="1"/>
              <a:t>impacto</a:t>
            </a:r>
            <a:r>
              <a:rPr dirty="0"/>
              <a:t> a </a:t>
            </a:r>
            <a:r>
              <a:rPr dirty="0" err="1"/>
              <a:t>través</a:t>
            </a:r>
            <a:r>
              <a:rPr dirty="0"/>
              <a:t> de las </a:t>
            </a:r>
            <a:r>
              <a:rPr dirty="0" err="1"/>
              <a:t>siguientes</a:t>
            </a:r>
            <a:r>
              <a:rPr dirty="0"/>
              <a:t> </a:t>
            </a:r>
            <a:r>
              <a:rPr dirty="0" err="1"/>
              <a:t>líneas</a:t>
            </a:r>
            <a:r>
              <a:rPr dirty="0"/>
              <a:t> de </a:t>
            </a:r>
            <a:r>
              <a:rPr dirty="0" err="1"/>
              <a:t>acción</a:t>
            </a:r>
            <a:r>
              <a:rPr dirty="0"/>
              <a:t>:</a:t>
            </a:r>
          </a:p>
          <a:p>
            <a:pPr marL="342900" lvl="0" indent="-342900">
              <a:buAutoNum type="arabicParenR"/>
            </a:pPr>
            <a:r>
              <a:rPr dirty="0" err="1"/>
              <a:t>Investigación</a:t>
            </a:r>
            <a:endParaRPr dirty="0"/>
          </a:p>
          <a:p>
            <a:pPr marL="342900" lvl="0" indent="-342900">
              <a:buAutoNum type="arabicParenR"/>
            </a:pPr>
            <a:r>
              <a:rPr dirty="0" err="1"/>
              <a:t>Formación</a:t>
            </a:r>
            <a:endParaRPr dirty="0"/>
          </a:p>
          <a:p>
            <a:pPr marL="342900" lvl="0" indent="-342900">
              <a:buAutoNum type="arabicParenR"/>
            </a:pPr>
            <a:r>
              <a:rPr dirty="0" err="1"/>
              <a:t>Gobernanza</a:t>
            </a:r>
            <a:r>
              <a:rPr dirty="0"/>
              <a:t> de Datos</a:t>
            </a:r>
          </a:p>
          <a:p>
            <a:pPr marL="342900" lvl="0" indent="-342900">
              <a:buAutoNum type="arabicParenR"/>
            </a:pPr>
            <a:r>
              <a:rPr dirty="0" err="1"/>
              <a:t>Apoyo</a:t>
            </a:r>
            <a:r>
              <a:rPr dirty="0"/>
              <a:t>, Impacto y </a:t>
            </a:r>
            <a:r>
              <a:rPr dirty="0" err="1"/>
              <a:t>Transferencia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 Investigación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Objetivo: </a:t>
            </a:r>
            <a:r>
              <a:rPr b="1"/>
              <a:t>Consolidar a FACSO como un nodo para el desarrollo de la investigación metodológica y metacientífica avanzada</a:t>
            </a:r>
          </a:p>
          <a:p>
            <a:pPr marL="0" lvl="0" indent="0">
              <a:buNone/>
            </a:pPr>
            <a:r>
              <a:t>Posibles líneas de investigación:</a:t>
            </a:r>
          </a:p>
          <a:p>
            <a:pPr marL="342900" lvl="0" indent="-342900">
              <a:buAutoNum type="alphaLcParenR"/>
            </a:pPr>
            <a:r>
              <a:t>Ciencias Sociales computacionales</a:t>
            </a:r>
          </a:p>
          <a:p>
            <a:pPr marL="342900" lvl="0" indent="-342900">
              <a:buAutoNum type="alphaLcParenR"/>
            </a:pPr>
            <a:r>
              <a:t>Ciencia Abierta, metaciencia y bibliometría</a:t>
            </a:r>
          </a:p>
          <a:p>
            <a:pPr marL="342900" lvl="0" indent="-342900">
              <a:buAutoNum type="alphaLcParenR"/>
            </a:pPr>
            <a:r>
              <a:t>Estudios sobre Instituciones de Educación Superior.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 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Objetivo: </a:t>
            </a:r>
            <a:r>
              <a:rPr b="1"/>
              <a:t>Establecer un espacio clave en la formación y capacitación de estudiantes, académicos y público general</a:t>
            </a:r>
          </a:p>
          <a:p>
            <a:pPr marL="342900" lvl="0" indent="-342900">
              <a:buAutoNum type="alphaLcParenR"/>
            </a:pPr>
            <a:r>
              <a:t>Coordinar académicos responsables de cursos metodológicos y de análisis de datos</a:t>
            </a:r>
          </a:p>
          <a:p>
            <a:pPr marL="342900" lvl="0" indent="-342900">
              <a:buAutoNum type="alphaLcParenR"/>
            </a:pPr>
            <a:r>
              <a:t>Dar espacio para integrar estudiantes de pre y postgrado como pasantes, prácticantes o tesistas</a:t>
            </a:r>
          </a:p>
          <a:p>
            <a:pPr marL="342900" lvl="0" indent="-342900">
              <a:buAutoNum type="alphaLcParenR"/>
            </a:pPr>
            <a:r>
              <a:t>Crear una oferta de cursos de extensión orientados al público externo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 Gobernanza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Objetivo</a:t>
            </a:r>
            <a:r>
              <a:rPr dirty="0"/>
              <a:t>: </a:t>
            </a:r>
            <a:r>
              <a:rPr b="1" dirty="0" err="1"/>
              <a:t>Asumir</a:t>
            </a:r>
            <a:r>
              <a:rPr b="1" dirty="0"/>
              <a:t> un </a:t>
            </a:r>
            <a:r>
              <a:rPr b="1" dirty="0" err="1"/>
              <a:t>rol</a:t>
            </a:r>
            <a:r>
              <a:rPr b="1" dirty="0"/>
              <a:t> </a:t>
            </a:r>
            <a:r>
              <a:rPr b="1" dirty="0" err="1"/>
              <a:t>activo</a:t>
            </a:r>
            <a:r>
              <a:rPr b="1" dirty="0"/>
              <a:t> </a:t>
            </a:r>
            <a:r>
              <a:rPr b="1" dirty="0" err="1"/>
              <a:t>en</a:t>
            </a:r>
            <a:r>
              <a:rPr b="1" dirty="0"/>
              <a:t> la </a:t>
            </a:r>
            <a:r>
              <a:rPr b="1" dirty="0" err="1"/>
              <a:t>optimizaci</a:t>
            </a:r>
            <a:r>
              <a:rPr lang="es-ES" b="1" dirty="0" err="1"/>
              <a:t>ón</a:t>
            </a:r>
            <a:r>
              <a:rPr b="1" dirty="0"/>
              <a:t> de la </a:t>
            </a:r>
            <a:r>
              <a:rPr b="1" dirty="0" err="1"/>
              <a:t>gestión</a:t>
            </a:r>
            <a:r>
              <a:rPr b="1" dirty="0"/>
              <a:t> y </a:t>
            </a:r>
            <a:r>
              <a:rPr b="1" dirty="0" err="1"/>
              <a:t>gobernanza</a:t>
            </a:r>
            <a:r>
              <a:rPr b="1" dirty="0"/>
              <a:t> de </a:t>
            </a:r>
            <a:r>
              <a:rPr b="1" dirty="0" err="1"/>
              <a:t>datos</a:t>
            </a:r>
            <a:r>
              <a:rPr b="1" dirty="0"/>
              <a:t> para las </a:t>
            </a:r>
            <a:r>
              <a:rPr b="1" dirty="0" err="1"/>
              <a:t>distintas</a:t>
            </a:r>
            <a:r>
              <a:rPr b="1" dirty="0"/>
              <a:t> </a:t>
            </a:r>
            <a:r>
              <a:rPr b="1" dirty="0" err="1"/>
              <a:t>unidades</a:t>
            </a:r>
            <a:r>
              <a:rPr b="1" dirty="0"/>
              <a:t> de la </a:t>
            </a:r>
            <a:r>
              <a:rPr b="1" dirty="0" err="1"/>
              <a:t>Facultad</a:t>
            </a:r>
            <a:endParaRPr b="1" dirty="0"/>
          </a:p>
          <a:p>
            <a:pPr lvl="0"/>
            <a:r>
              <a:rPr dirty="0"/>
              <a:t>Desarrollo de </a:t>
            </a:r>
            <a:r>
              <a:rPr dirty="0">
                <a:hlinkClick r:id="rId2"/>
              </a:rPr>
              <a:t>CINDAI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Dirección</a:t>
            </a:r>
            <a:r>
              <a:rPr dirty="0"/>
              <a:t> de </a:t>
            </a:r>
            <a:r>
              <a:rPr dirty="0" err="1"/>
              <a:t>Investigación</a:t>
            </a:r>
            <a:endParaRPr dirty="0"/>
          </a:p>
          <a:p>
            <a:pPr lvl="0"/>
            <a:r>
              <a:rPr dirty="0" err="1"/>
              <a:t>Ofrecer</a:t>
            </a:r>
            <a:r>
              <a:rPr dirty="0"/>
              <a:t> </a:t>
            </a:r>
            <a:r>
              <a:rPr dirty="0" err="1"/>
              <a:t>asesoría</a:t>
            </a:r>
            <a:r>
              <a:rPr dirty="0"/>
              <a:t> a </a:t>
            </a:r>
            <a:r>
              <a:rPr dirty="0" err="1"/>
              <a:t>otras</a:t>
            </a:r>
            <a:r>
              <a:rPr dirty="0"/>
              <a:t> </a:t>
            </a:r>
            <a:r>
              <a:rPr dirty="0" err="1"/>
              <a:t>unidades</a:t>
            </a:r>
            <a:r>
              <a:rPr dirty="0"/>
              <a:t> de la </a:t>
            </a:r>
            <a:r>
              <a:rPr dirty="0" err="1"/>
              <a:t>Facultad</a:t>
            </a:r>
            <a:r>
              <a:rPr dirty="0"/>
              <a:t> </a:t>
            </a:r>
            <a:r>
              <a:rPr dirty="0" err="1"/>
              <a:t>interesadas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fortalecer</a:t>
            </a:r>
            <a:r>
              <a:rPr dirty="0"/>
              <a:t> la </a:t>
            </a:r>
            <a:r>
              <a:rPr dirty="0" err="1"/>
              <a:t>gestión</a:t>
            </a:r>
            <a:r>
              <a:rPr dirty="0"/>
              <a:t> de sus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internos</a:t>
            </a:r>
            <a:r>
              <a:rPr dirty="0"/>
              <a:t> o </a:t>
            </a:r>
            <a:r>
              <a:rPr dirty="0" err="1"/>
              <a:t>desarrollar</a:t>
            </a:r>
            <a:r>
              <a:rPr dirty="0"/>
              <a:t> </a:t>
            </a:r>
            <a:r>
              <a:rPr dirty="0" err="1"/>
              <a:t>plataformas</a:t>
            </a:r>
            <a:r>
              <a:rPr dirty="0"/>
              <a:t> de </a:t>
            </a:r>
            <a:r>
              <a:rPr dirty="0" err="1"/>
              <a:t>visualización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 Asesoría, Impacto y Transferencia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3726"/>
            <a:ext cx="8229600" cy="339447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 err="1"/>
              <a:t>Objetivo</a:t>
            </a:r>
            <a:r>
              <a:rPr dirty="0"/>
              <a:t>: </a:t>
            </a:r>
            <a:r>
              <a:rPr b="1" dirty="0" err="1"/>
              <a:t>Ofrecer</a:t>
            </a:r>
            <a:r>
              <a:rPr b="1" dirty="0"/>
              <a:t> </a:t>
            </a:r>
            <a:r>
              <a:rPr b="1" dirty="0" err="1"/>
              <a:t>servicios</a:t>
            </a:r>
            <a:r>
              <a:rPr b="1" dirty="0"/>
              <a:t> </a:t>
            </a:r>
            <a:r>
              <a:rPr b="1" dirty="0" err="1"/>
              <a:t>especializados</a:t>
            </a:r>
            <a:r>
              <a:rPr b="1" dirty="0"/>
              <a:t> de </a:t>
            </a:r>
            <a:r>
              <a:rPr b="1" dirty="0" err="1"/>
              <a:t>acompañamiento</a:t>
            </a:r>
            <a:r>
              <a:rPr b="1" dirty="0"/>
              <a:t> </a:t>
            </a:r>
            <a:r>
              <a:rPr b="1" dirty="0" err="1"/>
              <a:t>técnico</a:t>
            </a:r>
            <a:r>
              <a:rPr b="1" dirty="0"/>
              <a:t> a lo largo del </a:t>
            </a:r>
            <a:r>
              <a:rPr b="1" dirty="0" err="1"/>
              <a:t>ciclo</a:t>
            </a:r>
            <a:r>
              <a:rPr b="1" dirty="0"/>
              <a:t> </a:t>
            </a:r>
            <a:r>
              <a:rPr b="1" dirty="0" err="1"/>
              <a:t>completo</a:t>
            </a:r>
            <a:r>
              <a:rPr b="1" dirty="0"/>
              <a:t> de </a:t>
            </a:r>
            <a:r>
              <a:rPr b="1" dirty="0" err="1"/>
              <a:t>investigación</a:t>
            </a:r>
            <a:r>
              <a:rPr b="1" dirty="0"/>
              <a:t>, </a:t>
            </a:r>
            <a:r>
              <a:rPr b="1" dirty="0" err="1"/>
              <a:t>promoviendo</a:t>
            </a:r>
            <a:r>
              <a:rPr b="1" dirty="0"/>
              <a:t> la </a:t>
            </a:r>
            <a:r>
              <a:rPr b="1" dirty="0" err="1"/>
              <a:t>contribución</a:t>
            </a:r>
            <a:r>
              <a:rPr b="1" dirty="0"/>
              <a:t> </a:t>
            </a:r>
            <a:r>
              <a:rPr b="1" dirty="0" err="1"/>
              <a:t>efectiva</a:t>
            </a:r>
            <a:r>
              <a:rPr b="1" dirty="0"/>
              <a:t> al debate </a:t>
            </a:r>
            <a:r>
              <a:rPr b="1" dirty="0" err="1"/>
              <a:t>público</a:t>
            </a:r>
            <a:r>
              <a:rPr b="1" dirty="0"/>
              <a:t>, </a:t>
            </a:r>
            <a:r>
              <a:rPr b="1" dirty="0" err="1"/>
              <a:t>el</a:t>
            </a:r>
            <a:r>
              <a:rPr b="1" dirty="0"/>
              <a:t> </a:t>
            </a:r>
            <a:r>
              <a:rPr b="1" dirty="0" err="1"/>
              <a:t>diseño</a:t>
            </a:r>
            <a:r>
              <a:rPr b="1" dirty="0"/>
              <a:t> de </a:t>
            </a:r>
            <a:r>
              <a:rPr b="1" dirty="0" err="1"/>
              <a:t>políticas</a:t>
            </a:r>
            <a:r>
              <a:rPr b="1" dirty="0"/>
              <a:t> </a:t>
            </a:r>
            <a:r>
              <a:rPr b="1" dirty="0" err="1"/>
              <a:t>públicas</a:t>
            </a:r>
            <a:r>
              <a:rPr b="1" dirty="0"/>
              <a:t> y la </a:t>
            </a:r>
            <a:r>
              <a:rPr b="1" dirty="0" err="1"/>
              <a:t>toma</a:t>
            </a:r>
            <a:r>
              <a:rPr b="1" dirty="0"/>
              <a:t> de </a:t>
            </a:r>
            <a:r>
              <a:rPr b="1" dirty="0" err="1"/>
              <a:t>decisiones</a:t>
            </a:r>
            <a:r>
              <a:rPr b="1" dirty="0"/>
              <a:t> </a:t>
            </a:r>
            <a:r>
              <a:rPr b="1" dirty="0" err="1"/>
              <a:t>basada</a:t>
            </a:r>
            <a:r>
              <a:rPr b="1" dirty="0"/>
              <a:t> </a:t>
            </a:r>
            <a:r>
              <a:rPr b="1" dirty="0" err="1"/>
              <a:t>en</a:t>
            </a:r>
            <a:r>
              <a:rPr b="1" dirty="0"/>
              <a:t> </a:t>
            </a:r>
            <a:r>
              <a:rPr b="1" dirty="0" err="1"/>
              <a:t>evidencia</a:t>
            </a:r>
            <a:endParaRPr b="1" dirty="0"/>
          </a:p>
          <a:p>
            <a:pPr marL="0" lvl="0" indent="0">
              <a:buNone/>
            </a:pPr>
            <a:r>
              <a:rPr dirty="0"/>
              <a:t>Las </a:t>
            </a:r>
            <a:r>
              <a:rPr dirty="0" err="1"/>
              <a:t>áreas</a:t>
            </a:r>
            <a:r>
              <a:rPr dirty="0"/>
              <a:t> de </a:t>
            </a:r>
            <a:r>
              <a:rPr dirty="0" err="1"/>
              <a:t>apoyo</a:t>
            </a:r>
            <a:r>
              <a:rPr dirty="0"/>
              <a:t> </a:t>
            </a:r>
            <a:r>
              <a:rPr dirty="0" err="1"/>
              <a:t>incluyen</a:t>
            </a:r>
            <a:r>
              <a:rPr dirty="0"/>
              <a:t>:</a:t>
            </a:r>
          </a:p>
          <a:p>
            <a:pPr lvl="0"/>
            <a:r>
              <a:rPr dirty="0" err="1"/>
              <a:t>Diseño</a:t>
            </a:r>
            <a:r>
              <a:rPr dirty="0"/>
              <a:t> de </a:t>
            </a:r>
            <a:r>
              <a:rPr dirty="0" err="1"/>
              <a:t>estudios</a:t>
            </a:r>
            <a:endParaRPr dirty="0"/>
          </a:p>
          <a:p>
            <a:pPr lvl="0"/>
            <a:r>
              <a:rPr dirty="0" err="1"/>
              <a:t>Acceso</a:t>
            </a:r>
            <a:r>
              <a:rPr dirty="0"/>
              <a:t> y </a:t>
            </a:r>
            <a:r>
              <a:rPr dirty="0" err="1"/>
              <a:t>uso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secundarios</a:t>
            </a:r>
            <a:endParaRPr dirty="0"/>
          </a:p>
          <a:p>
            <a:pPr lvl="0"/>
            <a:r>
              <a:rPr dirty="0" err="1"/>
              <a:t>Procesamiento</a:t>
            </a:r>
            <a:r>
              <a:rPr dirty="0"/>
              <a:t> y </a:t>
            </a:r>
            <a:r>
              <a:rPr dirty="0" err="1"/>
              <a:t>análisis</a:t>
            </a:r>
            <a:r>
              <a:rPr dirty="0"/>
              <a:t> reproducible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sociales</a:t>
            </a:r>
            <a:endParaRPr dirty="0"/>
          </a:p>
          <a:p>
            <a:pPr lvl="0"/>
            <a:r>
              <a:rPr dirty="0" err="1"/>
              <a:t>Gestión</a:t>
            </a:r>
            <a:r>
              <a:rPr dirty="0"/>
              <a:t>, </a:t>
            </a:r>
            <a:r>
              <a:rPr dirty="0" err="1"/>
              <a:t>archivo</a:t>
            </a:r>
            <a:r>
              <a:rPr dirty="0"/>
              <a:t> y </a:t>
            </a:r>
            <a:r>
              <a:rPr dirty="0" err="1"/>
              <a:t>apertura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</Words>
  <Application>Microsoft Office PowerPoint</Application>
  <PresentationFormat>Presentación en pantalla (16:9)</PresentationFormat>
  <Paragraphs>37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DATASOC</vt:lpstr>
      <vt:lpstr>Contexto</vt:lpstr>
      <vt:lpstr>DATASOC</vt:lpstr>
      <vt:lpstr>1. Investigación</vt:lpstr>
      <vt:lpstr>2. Formación</vt:lpstr>
      <vt:lpstr>3. Gobernanza de Datos</vt:lpstr>
      <vt:lpstr>4. Asesoría, Impacto y Transferencia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Presentación en pantalla (16:9)</PresentationFormat>
  <Paragraphs>60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Contexto</vt:lpstr>
      <vt:lpstr>Presentación de PowerPoint</vt:lpstr>
      <vt:lpstr>Objetivo del estudio</vt:lpstr>
      <vt:lpstr>Objetivo del estudio</vt:lpstr>
      <vt:lpstr>Diseño metodológico</vt:lpstr>
      <vt:lpstr>Fase 1: Sistematización de experiencias</vt:lpstr>
      <vt:lpstr>Fase 1.2: Encuesta de Acreditación</vt:lpstr>
      <vt:lpstr>Fase 2: Entrevistas y grupos focales</vt:lpstr>
      <vt:lpstr>Fase 3: Análisis comparado de buenas prácticas</vt:lpstr>
      <vt:lpstr>Fase 3: Análisis comparado de buenas prácticas</vt:lpstr>
      <vt:lpstr>Resultados esperados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DATASOC</dc:title>
  <dc:creator>Dirección de Investigación y Publicaciones – FACSO</dc:creator>
  <cp:keywords/>
  <cp:lastModifiedBy>Gabriel Nicolas Cortes Paredes (gabriel.cortes)</cp:lastModifiedBy>
  <cp:revision>2</cp:revision>
  <dcterms:created xsi:type="dcterms:W3CDTF">2025-10-03T18:31:53Z</dcterms:created>
  <dcterms:modified xsi:type="dcterms:W3CDTF">2025-10-03T18:42:10Z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octubre, 2025</vt:lpwstr>
  </property>
  <property fmtid="{D5CDD505-2E9C-101B-9397-08002B2CF9AE}" pid="6" name="date-format">
    <vt:lpwstr>MMMM, YYYY</vt:lpwstr>
  </property>
  <property fmtid="{D5CDD505-2E9C-101B-9397-08002B2CF9AE}" pid="7" name="footer">
    <vt:lpwstr>DIP – FACSO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logo">
    <vt:lpwstr>https://raw.githubusercontent.com/facso-investigacion/presentaciones/refs/heads/main/consejo-postgrado/imagenes/logo-dip.jpg</vt:lpwstr>
  </property>
  <property fmtid="{D5CDD505-2E9C-101B-9397-08002B2CF9AE}" pid="13" name="scrollable">
    <vt:lpwstr>True</vt:lpwstr>
  </property>
  <property fmtid="{D5CDD505-2E9C-101B-9397-08002B2CF9AE}" pid="14" name="slide-number">
    <vt:lpwstr>True</vt:lpwstr>
  </property>
  <property fmtid="{D5CDD505-2E9C-101B-9397-08002B2CF9AE}" pid="15" name="theme">
    <vt:lpwstr>simple</vt:lpwstr>
  </property>
  <property fmtid="{D5CDD505-2E9C-101B-9397-08002B2CF9AE}" pid="16" name="toc-title">
    <vt:lpwstr>Tabla de contenidos</vt:lpwstr>
  </property>
  <property fmtid="{D5CDD505-2E9C-101B-9397-08002B2CF9AE}" pid="17" name="transition">
    <vt:lpwstr>fade</vt:lpwstr>
  </property>
</Properties>
</file>