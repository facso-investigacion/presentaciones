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623520A9-C409-EF40-2DC8-0A2F2B294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2"/>
            <a:ext cx="9144000" cy="51414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Contexto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Política de </a:t>
            </a:r>
            <a:r>
              <a:rPr b="1" dirty="0" err="1"/>
              <a:t>Investigación</a:t>
            </a:r>
            <a:r>
              <a:rPr b="1" dirty="0"/>
              <a:t>, </a:t>
            </a:r>
            <a:r>
              <a:rPr b="1" dirty="0" err="1"/>
              <a:t>Creación</a:t>
            </a:r>
            <a:r>
              <a:rPr b="1" dirty="0"/>
              <a:t> Artística e </a:t>
            </a:r>
            <a:r>
              <a:rPr b="1" dirty="0" err="1"/>
              <a:t>Innovación</a:t>
            </a:r>
            <a:r>
              <a:rPr b="1" dirty="0"/>
              <a:t> (2022)</a:t>
            </a:r>
            <a:r>
              <a:rPr dirty="0"/>
              <a:t> </a:t>
            </a:r>
            <a:r>
              <a:rPr dirty="0" err="1"/>
              <a:t>releva</a:t>
            </a:r>
            <a:r>
              <a:rPr dirty="0"/>
              <a:t> la </a:t>
            </a:r>
            <a:r>
              <a:rPr dirty="0" err="1"/>
              <a:t>integración</a:t>
            </a:r>
            <a:r>
              <a:rPr dirty="0"/>
              <a:t> de la </a:t>
            </a:r>
            <a:r>
              <a:rPr dirty="0" err="1"/>
              <a:t>investigación</a:t>
            </a:r>
            <a:r>
              <a:rPr dirty="0"/>
              <a:t>, </a:t>
            </a:r>
            <a:r>
              <a:rPr dirty="0" err="1"/>
              <a:t>creación</a:t>
            </a:r>
            <a:r>
              <a:rPr dirty="0"/>
              <a:t> </a:t>
            </a:r>
            <a:r>
              <a:rPr dirty="0" err="1"/>
              <a:t>artística</a:t>
            </a:r>
            <a:r>
              <a:rPr dirty="0"/>
              <a:t> e </a:t>
            </a:r>
            <a:r>
              <a:rPr dirty="0" err="1"/>
              <a:t>innovación</a:t>
            </a:r>
            <a:r>
              <a:rPr dirty="0"/>
              <a:t> con la </a:t>
            </a:r>
            <a:r>
              <a:rPr dirty="0" err="1"/>
              <a:t>formación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uno de sus </a:t>
            </a:r>
            <a:r>
              <a:rPr dirty="0" err="1"/>
              <a:t>ejes</a:t>
            </a:r>
            <a:r>
              <a:rPr dirty="0"/>
              <a:t> </a:t>
            </a:r>
            <a:r>
              <a:rPr dirty="0" err="1"/>
              <a:t>transversales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4235" y="1068532"/>
            <a:ext cx="7758545" cy="3394472"/>
          </a:xfrm>
        </p:spPr>
        <p:txBody>
          <a:bodyPr/>
          <a:lstStyle/>
          <a:p>
            <a:pPr marL="0" lvl="0" indent="0" algn="ctr">
              <a:buNone/>
            </a:pP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“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Impulsar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 la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incorporación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sistemática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estudiantes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pregrado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 y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postgrado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como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parte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los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proyectos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investigación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creación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artística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innovación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 que son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financiados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con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recursos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internos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nivel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central y de las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unidades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académicas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que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permita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el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fortalecimiento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líneas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 y la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proyección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equipos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investigación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creación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artística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 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innovación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.” p.34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Objetivo del estudio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Proponer un </a:t>
            </a:r>
            <a:r>
              <a:rPr b="1"/>
              <a:t>modelo institucional</a:t>
            </a:r>
            <a:r>
              <a:t> que fortalezca y articule la incorporación de estudiantes de pregrado en procesos de investigación, con foco en:</a:t>
            </a:r>
          </a:p>
          <a:p>
            <a:pPr lvl="0"/>
            <a:r>
              <a:t>la equidad en el acceso a estas oportunidades,</a:t>
            </a:r>
          </a:p>
          <a:p>
            <a:pPr lvl="0"/>
            <a:r>
              <a:t>la contribución formativa para les estudiantes,</a:t>
            </a:r>
          </a:p>
          <a:p>
            <a:pPr lvl="0"/>
            <a:r>
              <a:t>y la relevancia de su participación para el quehacer académico de la Facultad.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Para </a:t>
            </a:r>
            <a:r>
              <a:rPr dirty="0" err="1"/>
              <a:t>ello</a:t>
            </a:r>
            <a:r>
              <a:rPr dirty="0"/>
              <a:t>, se </a:t>
            </a:r>
            <a:r>
              <a:rPr dirty="0" err="1"/>
              <a:t>requiere</a:t>
            </a:r>
            <a:r>
              <a:rPr dirty="0"/>
              <a:t> un </a:t>
            </a:r>
            <a:r>
              <a:rPr b="1" dirty="0" err="1"/>
              <a:t>estudio</a:t>
            </a:r>
            <a:r>
              <a:rPr b="1" dirty="0"/>
              <a:t> </a:t>
            </a:r>
            <a:r>
              <a:rPr b="1" dirty="0" err="1"/>
              <a:t>diagnóstico</a:t>
            </a:r>
            <a:r>
              <a:rPr dirty="0"/>
              <a:t> que </a:t>
            </a:r>
            <a:r>
              <a:rPr dirty="0" err="1"/>
              <a:t>identifique</a:t>
            </a:r>
            <a:r>
              <a:rPr dirty="0"/>
              <a:t>:</a:t>
            </a:r>
          </a:p>
          <a:p>
            <a:pPr lvl="0"/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tipos</a:t>
            </a:r>
            <a:r>
              <a:rPr dirty="0"/>
              <a:t> de </a:t>
            </a:r>
            <a:r>
              <a:rPr dirty="0" err="1"/>
              <a:t>experiencias</a:t>
            </a:r>
            <a:r>
              <a:rPr dirty="0"/>
              <a:t> </a:t>
            </a:r>
            <a:r>
              <a:rPr dirty="0" err="1"/>
              <a:t>investigativas</a:t>
            </a:r>
            <a:r>
              <a:rPr dirty="0"/>
              <a:t> </a:t>
            </a:r>
            <a:r>
              <a:rPr dirty="0" err="1"/>
              <a:t>existen</a:t>
            </a:r>
            <a:r>
              <a:rPr dirty="0"/>
              <a:t> </a:t>
            </a:r>
            <a:r>
              <a:rPr dirty="0" err="1"/>
              <a:t>actualmente</a:t>
            </a:r>
            <a:r>
              <a:rPr dirty="0"/>
              <a:t>,</a:t>
            </a:r>
          </a:p>
          <a:p>
            <a:pPr lvl="0"/>
            <a:r>
              <a:rPr dirty="0" err="1"/>
              <a:t>quiénes</a:t>
            </a:r>
            <a:r>
              <a:rPr dirty="0"/>
              <a:t> </a:t>
            </a:r>
            <a:r>
              <a:rPr dirty="0" err="1"/>
              <a:t>acceden</a:t>
            </a:r>
            <a:r>
              <a:rPr dirty="0"/>
              <a:t> a </a:t>
            </a:r>
            <a:r>
              <a:rPr dirty="0" err="1"/>
              <a:t>ellas</a:t>
            </a:r>
            <a:r>
              <a:rPr dirty="0"/>
              <a:t> (y </a:t>
            </a:r>
            <a:r>
              <a:rPr dirty="0" err="1"/>
              <a:t>quiénes</a:t>
            </a:r>
            <a:r>
              <a:rPr dirty="0"/>
              <a:t> no),</a:t>
            </a:r>
          </a:p>
          <a:p>
            <a:pPr lvl="0"/>
            <a:r>
              <a:rPr dirty="0" err="1"/>
              <a:t>qué</a:t>
            </a:r>
            <a:r>
              <a:rPr dirty="0"/>
              <a:t> barreras y </a:t>
            </a:r>
            <a:r>
              <a:rPr dirty="0" err="1"/>
              <a:t>facilitadores</a:t>
            </a:r>
            <a:r>
              <a:rPr dirty="0"/>
              <a:t> </a:t>
            </a:r>
            <a:r>
              <a:rPr dirty="0" err="1"/>
              <a:t>existen</a:t>
            </a:r>
            <a:r>
              <a:rPr dirty="0"/>
              <a:t>,</a:t>
            </a:r>
          </a:p>
          <a:p>
            <a:pPr lvl="0"/>
            <a:r>
              <a:rPr dirty="0" err="1"/>
              <a:t>cómo</a:t>
            </a:r>
            <a:r>
              <a:rPr dirty="0"/>
              <a:t> se </a:t>
            </a:r>
            <a:r>
              <a:rPr dirty="0" err="1"/>
              <a:t>valoran</a:t>
            </a:r>
            <a:r>
              <a:rPr dirty="0"/>
              <a:t> </a:t>
            </a:r>
            <a:r>
              <a:rPr dirty="0" err="1"/>
              <a:t>dichas</a:t>
            </a:r>
            <a:r>
              <a:rPr dirty="0"/>
              <a:t> </a:t>
            </a:r>
            <a:r>
              <a:rPr dirty="0" err="1"/>
              <a:t>experiencias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parte</a:t>
            </a:r>
            <a:r>
              <a:rPr dirty="0"/>
              <a:t> de </a:t>
            </a:r>
            <a:r>
              <a:rPr dirty="0" err="1"/>
              <a:t>actores</a:t>
            </a:r>
            <a:r>
              <a:rPr dirty="0"/>
              <a:t> clave,</a:t>
            </a:r>
          </a:p>
          <a:p>
            <a:pPr lvl="0"/>
            <a:r>
              <a:rPr dirty="0"/>
              <a:t>y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buenas</a:t>
            </a:r>
            <a:r>
              <a:rPr dirty="0"/>
              <a:t> </a:t>
            </a:r>
            <a:r>
              <a:rPr dirty="0" err="1"/>
              <a:t>prácticas</a:t>
            </a:r>
            <a:r>
              <a:rPr dirty="0"/>
              <a:t> </a:t>
            </a:r>
            <a:r>
              <a:rPr dirty="0" err="1"/>
              <a:t>internas</a:t>
            </a:r>
            <a:r>
              <a:rPr dirty="0"/>
              <a:t> o </a:t>
            </a:r>
            <a:r>
              <a:rPr dirty="0" err="1"/>
              <a:t>externas</a:t>
            </a:r>
            <a:r>
              <a:rPr dirty="0"/>
              <a:t> </a:t>
            </a:r>
            <a:r>
              <a:rPr dirty="0" err="1"/>
              <a:t>podrían</a:t>
            </a:r>
            <a:r>
              <a:rPr dirty="0"/>
              <a:t> </a:t>
            </a:r>
            <a:r>
              <a:rPr dirty="0" err="1"/>
              <a:t>inspirar</a:t>
            </a:r>
            <a:r>
              <a:rPr dirty="0"/>
              <a:t> un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formalizado</a:t>
            </a:r>
            <a:r>
              <a:rPr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03CB64-B846-5D81-63CF-FAA86635A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t>Objetivo del estudio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Diseño metodológico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rPr dirty="0" err="1"/>
              <a:t>Sistematización</a:t>
            </a:r>
            <a:r>
              <a:rPr dirty="0"/>
              <a:t> de </a:t>
            </a:r>
            <a:r>
              <a:rPr dirty="0" err="1"/>
              <a:t>experiencias</a:t>
            </a:r>
            <a:r>
              <a:rPr dirty="0"/>
              <a:t> </a:t>
            </a:r>
            <a:r>
              <a:rPr dirty="0" err="1"/>
              <a:t>vigentes</a:t>
            </a:r>
            <a:endParaRPr dirty="0"/>
          </a:p>
          <a:p>
            <a:pPr marL="342900" lvl="0" indent="-342900">
              <a:buAutoNum type="arabicPeriod"/>
            </a:pPr>
            <a:r>
              <a:rPr dirty="0" err="1"/>
              <a:t>Entrevistas</a:t>
            </a:r>
            <a:r>
              <a:rPr dirty="0"/>
              <a:t> y </a:t>
            </a:r>
            <a:r>
              <a:rPr dirty="0" err="1"/>
              <a:t>grupos</a:t>
            </a:r>
            <a:r>
              <a:rPr dirty="0"/>
              <a:t> </a:t>
            </a:r>
            <a:r>
              <a:rPr dirty="0" err="1"/>
              <a:t>focales</a:t>
            </a:r>
            <a:endParaRPr dirty="0"/>
          </a:p>
          <a:p>
            <a:pPr marL="342900" lvl="0" indent="-342900">
              <a:buAutoNum type="arabicPeriod"/>
            </a:pPr>
            <a:r>
              <a:rPr dirty="0" err="1"/>
              <a:t>Análisis</a:t>
            </a:r>
            <a:r>
              <a:rPr dirty="0"/>
              <a:t> </a:t>
            </a:r>
            <a:r>
              <a:rPr dirty="0" err="1"/>
              <a:t>comparado</a:t>
            </a:r>
            <a:r>
              <a:rPr dirty="0"/>
              <a:t> de </a:t>
            </a:r>
            <a:r>
              <a:rPr dirty="0" err="1"/>
              <a:t>buenas</a:t>
            </a:r>
            <a:r>
              <a:rPr dirty="0"/>
              <a:t> </a:t>
            </a:r>
            <a:r>
              <a:rPr dirty="0" err="1"/>
              <a:t>prácticas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Fase 1: Sistematización de experiencias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Revisión documental:</a:t>
            </a:r>
          </a:p>
          <a:p>
            <a:pPr lvl="1"/>
            <a:r>
              <a:t>Proyectos individuales 2023–2024</a:t>
            </a:r>
          </a:p>
          <a:p>
            <a:pPr lvl="1"/>
            <a:r>
              <a:t>Iniciativas asociativas (centros, núcleos, programas)</a:t>
            </a:r>
          </a:p>
          <a:p>
            <a:pPr lvl="0"/>
            <a:r>
              <a:rPr b="1"/>
              <a:t>Cuestionario a investigadores/as responsables</a:t>
            </a:r>
            <a:r>
              <a:t>, para indagar:</a:t>
            </a:r>
          </a:p>
          <a:p>
            <a:pPr lvl="1"/>
            <a:r>
              <a:t>presencia de estudiantes en sus equipos,</a:t>
            </a:r>
          </a:p>
          <a:p>
            <a:pPr lvl="1"/>
            <a:r>
              <a:t>formas de incorporación,</a:t>
            </a:r>
          </a:p>
          <a:p>
            <a:pPr lvl="1"/>
            <a:r>
              <a:t>aprendizajes y desafíos.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Fase 1.2: Encuesta de Acreditación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Revisión de ítems aplicados en el marco de la Acreditación Institucional 2025</a:t>
            </a:r>
          </a:p>
          <a:p>
            <a:pPr lvl="0"/>
            <a:r>
              <a:t>Análisis de:</a:t>
            </a:r>
          </a:p>
          <a:p>
            <a:pPr lvl="1"/>
            <a:r>
              <a:t>prevalencia de participación,</a:t>
            </a:r>
          </a:p>
          <a:p>
            <a:pPr lvl="1"/>
            <a:r>
              <a:t>diferencias por carrera o cohorte,</a:t>
            </a:r>
          </a:p>
          <a:p>
            <a:pPr lvl="1"/>
            <a:r>
              <a:t>percepción del valor formativo.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Fase 2: Entrevistas y grupos focales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Entrevistas:</a:t>
            </a:r>
          </a:p>
          <a:p>
            <a:pPr lvl="0"/>
            <a:r>
              <a:t>A estudiantes con experiencia en investigación</a:t>
            </a:r>
          </a:p>
          <a:p>
            <a:pPr lvl="0"/>
            <a:r>
              <a:t>A actores institucionales relevantes</a:t>
            </a:r>
          </a:p>
          <a:p>
            <a:pPr marL="0" lvl="0" indent="0">
              <a:buNone/>
            </a:pPr>
            <a:r>
              <a:t>Grupos focales:</a:t>
            </a:r>
          </a:p>
          <a:p>
            <a:pPr lvl="0"/>
            <a:r>
              <a:t>A académicos/as que integran estudiantes en investigación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436" y="205979"/>
            <a:ext cx="8021782" cy="857250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Fase 3: </a:t>
            </a:r>
            <a:r>
              <a:rPr dirty="0" err="1"/>
              <a:t>Análisis</a:t>
            </a:r>
            <a:r>
              <a:rPr dirty="0"/>
              <a:t> </a:t>
            </a:r>
            <a:r>
              <a:rPr dirty="0" err="1"/>
              <a:t>comparado</a:t>
            </a:r>
            <a:r>
              <a:rPr dirty="0"/>
              <a:t> de </a:t>
            </a:r>
            <a:r>
              <a:rPr dirty="0" err="1"/>
              <a:t>buenas</a:t>
            </a:r>
            <a:r>
              <a:rPr dirty="0"/>
              <a:t> </a:t>
            </a:r>
            <a:r>
              <a:rPr dirty="0" err="1"/>
              <a:t>prácticas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Nacionales:</a:t>
            </a:r>
          </a:p>
          <a:p>
            <a:pPr lvl="0"/>
            <a:r>
              <a:t>Pontificia Universidad Católica de Chile</a:t>
            </a:r>
          </a:p>
          <a:p>
            <a:pPr lvl="0"/>
            <a:r>
              <a:t>Universidad Adolfo Ibáñez</a:t>
            </a:r>
          </a:p>
          <a:p>
            <a:pPr lvl="0"/>
            <a:r>
              <a:t>Universidad Diego Portales</a:t>
            </a:r>
          </a:p>
          <a:p>
            <a:pPr lvl="0"/>
            <a:r>
              <a:t>Universidad Alberto Hurtado</a:t>
            </a:r>
          </a:p>
          <a:p>
            <a:pPr lvl="0"/>
            <a:r>
              <a:t>Universidad de Chile (Medicina, Gobierno y Filosofía)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Internacionales:</a:t>
            </a:r>
          </a:p>
          <a:p>
            <a:pPr lvl="0"/>
            <a:r>
              <a:t>UC Berkeley: Undergraduate Research Apprentice Program (URAP)</a:t>
            </a:r>
          </a:p>
          <a:p>
            <a:pPr lvl="0"/>
            <a:r>
              <a:t>Stanford University: On &amp; Off-campus Learning Opportunities</a:t>
            </a:r>
          </a:p>
          <a:p>
            <a:pPr lvl="0"/>
            <a:r>
              <a:t>London School of Economics: Undergraduate Research Fellowships (URF)</a:t>
            </a:r>
          </a:p>
          <a:p>
            <a:pPr lvl="0"/>
            <a:r>
              <a:t>¿Otras?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4F8356-D268-5187-58A6-F289451C2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436" y="205979"/>
            <a:ext cx="8021782" cy="857250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Fase 3: </a:t>
            </a:r>
            <a:r>
              <a:rPr dirty="0" err="1"/>
              <a:t>Análisis</a:t>
            </a:r>
            <a:r>
              <a:rPr dirty="0"/>
              <a:t> </a:t>
            </a:r>
            <a:r>
              <a:rPr dirty="0" err="1"/>
              <a:t>comparado</a:t>
            </a:r>
            <a:r>
              <a:rPr dirty="0"/>
              <a:t> de </a:t>
            </a:r>
            <a:r>
              <a:rPr dirty="0" err="1"/>
              <a:t>buenas</a:t>
            </a:r>
            <a:r>
              <a:rPr dirty="0"/>
              <a:t> </a:t>
            </a:r>
            <a:r>
              <a:rPr dirty="0" err="1"/>
              <a:t>prácticas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Resultados esperados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 err="1"/>
              <a:t>Caracterización</a:t>
            </a:r>
            <a:r>
              <a:rPr dirty="0"/>
              <a:t> de las </a:t>
            </a:r>
            <a:r>
              <a:rPr dirty="0" err="1"/>
              <a:t>prácticas</a:t>
            </a:r>
            <a:r>
              <a:rPr dirty="0"/>
              <a:t> </a:t>
            </a:r>
            <a:r>
              <a:rPr dirty="0" err="1"/>
              <a:t>actuales</a:t>
            </a:r>
            <a:endParaRPr dirty="0"/>
          </a:p>
          <a:p>
            <a:pPr lvl="0"/>
            <a:r>
              <a:rPr dirty="0" err="1"/>
              <a:t>Identificación</a:t>
            </a:r>
            <a:r>
              <a:rPr dirty="0"/>
              <a:t> de barreras y </a:t>
            </a:r>
            <a:r>
              <a:rPr dirty="0" err="1"/>
              <a:t>facilitadores</a:t>
            </a:r>
            <a:endParaRPr dirty="0"/>
          </a:p>
          <a:p>
            <a:pPr lvl="0"/>
            <a:r>
              <a:rPr dirty="0" err="1"/>
              <a:t>Recomendaciones</a:t>
            </a:r>
            <a:r>
              <a:rPr dirty="0"/>
              <a:t> para un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institucional</a:t>
            </a:r>
            <a:r>
              <a:rPr dirty="0"/>
              <a:t>:</a:t>
            </a:r>
          </a:p>
          <a:p>
            <a:pPr lvl="1"/>
            <a:r>
              <a:rPr dirty="0" err="1"/>
              <a:t>criterios</a:t>
            </a:r>
            <a:r>
              <a:rPr dirty="0"/>
              <a:t>,</a:t>
            </a:r>
          </a:p>
          <a:p>
            <a:pPr lvl="1"/>
            <a:r>
              <a:rPr dirty="0" err="1"/>
              <a:t>mecanismos</a:t>
            </a:r>
            <a:r>
              <a:rPr dirty="0"/>
              <a:t>,</a:t>
            </a:r>
          </a:p>
          <a:p>
            <a:pPr lvl="1"/>
            <a:r>
              <a:rPr dirty="0" err="1"/>
              <a:t>apoyos</a:t>
            </a:r>
            <a:r>
              <a:rPr dirty="0"/>
              <a:t>,</a:t>
            </a:r>
          </a:p>
          <a:p>
            <a:pPr lvl="1"/>
            <a:r>
              <a:rPr dirty="0" err="1"/>
              <a:t>condiciones</a:t>
            </a:r>
            <a:r>
              <a:rPr dirty="0"/>
              <a:t> </a:t>
            </a:r>
            <a:r>
              <a:rPr dirty="0" err="1"/>
              <a:t>mínimas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</Words>
  <Application>Microsoft Office PowerPoint</Application>
  <PresentationFormat>Presentación en pantalla (16:9)</PresentationFormat>
  <Paragraphs>60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Contexto</vt:lpstr>
      <vt:lpstr>Presentación de PowerPoint</vt:lpstr>
      <vt:lpstr>Objetivo del estudio</vt:lpstr>
      <vt:lpstr>Objetivo del estudio</vt:lpstr>
      <vt:lpstr>Diseño metodológico</vt:lpstr>
      <vt:lpstr>Fase 1: Sistematización de experiencias</vt:lpstr>
      <vt:lpstr>Fase 1.2: Encuesta de Acreditación</vt:lpstr>
      <vt:lpstr>Fase 2: Entrevistas y grupos focales</vt:lpstr>
      <vt:lpstr>Fase 3: Análisis comparado de buenas prácticas</vt:lpstr>
      <vt:lpstr>Fase 3: Análisis comparado de buenas prácticas</vt:lpstr>
      <vt:lpstr>Resultados esperados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de estudio diagnóstico</dc:title>
  <dc:creator>Dirección de Investigación y Publicaciones FACSO</dc:creator>
  <cp:keywords/>
  <cp:lastModifiedBy>Carolina Constanza Carrillo Devia (carolina.carrillo)</cp:lastModifiedBy>
  <cp:revision>1</cp:revision>
  <dcterms:created xsi:type="dcterms:W3CDTF">2025-07-01T13:58:17Z</dcterms:created>
  <dcterms:modified xsi:type="dcterms:W3CDTF">2025-07-01T14:07:45Z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Hacia un modelo de incorporación de estudiantes de pregrado en investigación en FACSO</vt:lpwstr>
  </property>
  <property fmtid="{D5CDD505-2E9C-101B-9397-08002B2CF9AE}" pid="10" name="theme">
    <vt:lpwstr>simple</vt:lpwstr>
  </property>
  <property fmtid="{D5CDD505-2E9C-101B-9397-08002B2CF9AE}" pid="11" name="toc-title">
    <vt:lpwstr>Table of contents</vt:lpwstr>
  </property>
</Properties>
</file>